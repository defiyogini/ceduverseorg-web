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94" y="2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Pérez Villaseñor" userId="9c56ed541040cb73" providerId="LiveId" clId="{E4410A74-6186-48C0-A898-F46DEF924E8A}"/>
    <pc:docChg chg="undo custSel modSld">
      <pc:chgData name="David Pérez Villaseñor" userId="9c56ed541040cb73" providerId="LiveId" clId="{E4410A74-6186-48C0-A898-F46DEF924E8A}" dt="2026-03-19T23:54:29.228" v="11" actId="1076"/>
      <pc:docMkLst>
        <pc:docMk/>
      </pc:docMkLst>
      <pc:sldChg chg="addSp delSp modSp mod">
        <pc:chgData name="David Pérez Villaseñor" userId="9c56ed541040cb73" providerId="LiveId" clId="{E4410A74-6186-48C0-A898-F46DEF924E8A}" dt="2026-03-19T23:54:29.228" v="11" actId="1076"/>
        <pc:sldMkLst>
          <pc:docMk/>
          <pc:sldMk cId="0" sldId="256"/>
        </pc:sldMkLst>
        <pc:spChg chg="mod">
          <ac:chgData name="David Pérez Villaseñor" userId="9c56ed541040cb73" providerId="LiveId" clId="{E4410A74-6186-48C0-A898-F46DEF924E8A}" dt="2026-03-19T23:54:29.228" v="11" actId="1076"/>
          <ac:spMkLst>
            <pc:docMk/>
            <pc:sldMk cId="0" sldId="256"/>
            <ac:spMk id="7" creationId="{00000000-0000-0000-0000-000000000000}"/>
          </ac:spMkLst>
        </pc:spChg>
        <pc:picChg chg="add del">
          <ac:chgData name="David Pérez Villaseñor" userId="9c56ed541040cb73" providerId="LiveId" clId="{E4410A74-6186-48C0-A898-F46DEF924E8A}" dt="2026-03-19T23:44:41.104" v="1" actId="478"/>
          <ac:picMkLst>
            <pc:docMk/>
            <pc:sldMk cId="0" sldId="256"/>
            <ac:picMk id="5" creationId="{00000000-0000-0000-0000-000000000000}"/>
          </ac:picMkLst>
        </pc:picChg>
        <pc:picChg chg="mod">
          <ac:chgData name="David Pérez Villaseñor" userId="9c56ed541040cb73" providerId="LiveId" clId="{E4410A74-6186-48C0-A898-F46DEF924E8A}" dt="2026-03-19T23:45:05.140" v="5" actId="1076"/>
          <ac:picMkLst>
            <pc:docMk/>
            <pc:sldMk cId="0" sldId="256"/>
            <ac:picMk id="6" creationId="{00000000-0000-0000-0000-000000000000}"/>
          </ac:picMkLst>
        </pc:picChg>
      </pc:sldChg>
      <pc:sldChg chg="modSp mod">
        <pc:chgData name="David Pérez Villaseñor" userId="9c56ed541040cb73" providerId="LiveId" clId="{E4410A74-6186-48C0-A898-F46DEF924E8A}" dt="2026-03-19T23:45:39.945" v="9" actId="1076"/>
        <pc:sldMkLst>
          <pc:docMk/>
          <pc:sldMk cId="0" sldId="259"/>
        </pc:sldMkLst>
        <pc:spChg chg="mod">
          <ac:chgData name="David Pérez Villaseñor" userId="9c56ed541040cb73" providerId="LiveId" clId="{E4410A74-6186-48C0-A898-F46DEF924E8A}" dt="2026-03-19T23:45:28.712" v="6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avid Pérez Villaseñor" userId="9c56ed541040cb73" providerId="LiveId" clId="{E4410A74-6186-48C0-A898-F46DEF924E8A}" dt="2026-03-19T23:45:32.967" v="8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avid Pérez Villaseñor" userId="9c56ed541040cb73" providerId="LiveId" clId="{E4410A74-6186-48C0-A898-F46DEF924E8A}" dt="2026-03-19T23:45:39.945" v="9" actId="1076"/>
          <ac:spMkLst>
            <pc:docMk/>
            <pc:sldMk cId="0" sldId="259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24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754880" y="0"/>
            <a:ext cx="822960" cy="514350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120640" y="365760"/>
            <a:ext cx="3749040" cy="3749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201515"/>
            <a:ext cx="2283770" cy="22837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2599182"/>
            <a:ext cx="4114800" cy="5029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47472"/>
            <a:ext cx="2926080" cy="6949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Ejecutiva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Administración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>
            <a:off x="411480" y="25146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 2026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C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· Gestión · Proyección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11480" y="4206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David Pérez Villaseñor  ·  Gestor Cooperativo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1148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 ·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85800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21792" y="658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Servicios 2026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1792" y="1115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categorías · 13 servicios activos + 1 por cotizar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566928"/>
            <a:ext cx="749808" cy="7498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1554480"/>
            <a:ext cx="1965960" cy="25603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320040" y="1554480"/>
            <a:ext cx="19659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320040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11480" y="24688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496312" y="1554480"/>
            <a:ext cx="1965960" cy="256032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2496312" y="1554480"/>
            <a:ext cx="19659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2496312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2587752" y="24688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Fiscal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87752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72584" y="1554480"/>
            <a:ext cx="1965960" cy="25603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4672584" y="1554480"/>
            <a:ext cx="19659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4672584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4764024" y="24688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Infraestructura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764024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servicios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848856" y="1554480"/>
            <a:ext cx="1965960" cy="2560320"/>
          </a:xfrm>
          <a:prstGeom prst="rect">
            <a:avLst/>
          </a:prstGeom>
          <a:solidFill>
            <a:srgbClr val="D97000"/>
          </a:solidFill>
          <a:ln w="12700">
            <a:solidFill>
              <a:srgbClr val="D97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6848856" y="1554480"/>
            <a:ext cx="19659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848856" y="1783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29" name="Text 25"/>
          <p:cNvSpPr/>
          <p:nvPr/>
        </p:nvSpPr>
        <p:spPr>
          <a:xfrm>
            <a:off x="6940296" y="24688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Contenidos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940296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servicios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20040" y="4251960"/>
            <a:ext cx="8503920" cy="475488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457200" y="42793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Pasivo pendiente de liquidación al inicio de gestión: $23,280 MXN  (3 meses: Contabilidad + Oficina Virtual + IZZI)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0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4922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COOPERATIVA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1792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Gestoría Cooperativa — David Pérez Villaseñor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48640"/>
            <a:ext cx="749808" cy="74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298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y Actividades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1627632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nuevos socios (alta, padrón, firma, folio)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 de socios (acta de retiro, devolución, SAT)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y actualización del Libro de Socios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contabilidad y declaraciones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del cumplimiento de Bases Constitutivas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certificados NFT y constancias DC-3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software e implementación de paquetes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 comercial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material de ventas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con el área comercial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socios y clientes B2B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60720" y="1298448"/>
            <a:ext cx="3017520" cy="329184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5760720" y="1298448"/>
            <a:ext cx="301752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585216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Contrato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0" y="1920240"/>
            <a:ext cx="2651760" cy="114300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5943600" y="1920240"/>
            <a:ext cx="265176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594360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3600" y="2240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1 Año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43600" y="24505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$55,000/mes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943600" y="28163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$660,000 anuales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3200400"/>
            <a:ext cx="2651760" cy="1188720"/>
          </a:xfrm>
          <a:prstGeom prst="rect">
            <a:avLst/>
          </a:prstGeom>
          <a:solidFill>
            <a:srgbClr val="0D3B1A"/>
          </a:solidFill>
          <a:ln w="12700">
            <a:solidFill>
              <a:srgbClr val="0D3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5943600" y="3200400"/>
            <a:ext cx="265176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5943600" y="3291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  ✓ RECOMENDADO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943600" y="3520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3 Años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43600" y="3730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$48,000/mes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5943600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Ahorro: $252,000 en 3 años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4922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Y FINANZAS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48640"/>
            <a:ext cx="868680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658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Contable y Bancaria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274320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74320" y="1371600"/>
            <a:ext cx="73152" cy="160020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274320" y="1371600"/>
            <a:ext cx="4114800" cy="54864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438912" y="14630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Contables — Santos &amp; Asociados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83280" y="1463040"/>
            <a:ext cx="91440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3383280" y="1463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$6,000/mes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8912" y="1828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 Gladis Santos  ·  9982141812  ·  contabilidad@ceducap.mx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38912" y="204825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Mensuales (ISR, IVA, DIOT)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Anual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bancaria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CFDIs incluidos/mes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mensuales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FIEL y CSD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108960" y="27706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anual: $72,000/año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736592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4736592" y="1371600"/>
            <a:ext cx="73152" cy="160020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4736592" y="1371600"/>
            <a:ext cx="4114800" cy="54864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4901184" y="14630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Adicional Facturación CFDI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845552" y="1463040"/>
            <a:ext cx="914400" cy="347472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7845552" y="1463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cotizar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901184" y="1828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 Gladis Santos  ·  Santos &amp; Asociados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901184" y="204825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CFDIs adicionales (más de 10/mes)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 y complementos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B2B y socios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Timbrado y envío SAT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901184" y="2788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anual: Pendiente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74320" y="3200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274320" y="3200400"/>
            <a:ext cx="73152" cy="160020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274320" y="3200400"/>
            <a:ext cx="4114800" cy="54864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438912" y="32918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Bancaria BanRegio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83280" y="3291840"/>
            <a:ext cx="914400" cy="347472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338328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$266.80/mes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38912" y="3657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Empresarial Cooperativa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38912" y="387705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ya incluido en el costo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pagos socios y B2B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 proveedores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mensual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035808" y="4617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3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anual: $3,201.60/año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736592" y="3200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4"/>
          <p:cNvSpPr/>
          <p:nvPr/>
        </p:nvSpPr>
        <p:spPr>
          <a:xfrm>
            <a:off x="4736592" y="3200400"/>
            <a:ext cx="73152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5"/>
          <p:cNvSpPr/>
          <p:nvPr/>
        </p:nvSpPr>
        <p:spPr>
          <a:xfrm>
            <a:off x="4736592" y="3200400"/>
            <a:ext cx="41148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6"/>
          <p:cNvSpPr/>
          <p:nvPr/>
        </p:nvSpPr>
        <p:spPr>
          <a:xfrm>
            <a:off x="4901184" y="32918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Virtual Cancún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7845552" y="3291840"/>
            <a:ext cx="9144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7845552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$950/mes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901184" y="3657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 &amp; Asociados  ·  gladis.despacho@gmail.com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901184" y="387705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 fiscal SAT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correspondencia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visitantes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juntas: 4 hrs/mes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901184" y="4617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anual: $11,400/año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Text 43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85800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48640"/>
            <a:ext cx="868680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Infraestructura Web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274320" y="1325880"/>
            <a:ext cx="2697480" cy="169164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274320" y="1325880"/>
            <a:ext cx="2697480" cy="640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365760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41248" y="14356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Web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5760" y="19476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Raúl Rico · Creatinnmedia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5760" y="2194560"/>
            <a:ext cx="2514600" cy="228600"/>
          </a:xfrm>
          <a:prstGeom prst="rect">
            <a:avLst/>
          </a:prstGeom>
          <a:solidFill>
            <a:srgbClr val="0A2A0A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365760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65760" y="2496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$2,500/mes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45920" y="25328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$30,000/año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18688" y="1325880"/>
            <a:ext cx="2697480" cy="169164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3218688" y="1325880"/>
            <a:ext cx="2697480" cy="640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3310128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785616" y="14356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Plataforma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Educativa IMEC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310128" y="19476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José Ángel Hernández · IMEC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310128" y="2194560"/>
            <a:ext cx="2514600" cy="228600"/>
          </a:xfrm>
          <a:prstGeom prst="rect">
            <a:avLst/>
          </a:prstGeom>
          <a:solidFill>
            <a:srgbClr val="0A2A0A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3310128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— renovar Nov 2026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310128" y="2496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$35,000/año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90288" y="25328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$35,000/año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63056" y="1325880"/>
            <a:ext cx="2697480" cy="169164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4"/>
          <p:cNvSpPr/>
          <p:nvPr/>
        </p:nvSpPr>
        <p:spPr>
          <a:xfrm>
            <a:off x="6163056" y="1325880"/>
            <a:ext cx="2697480" cy="640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6254496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6729984" y="14356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ceducap.mx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54496" y="19476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254496" y="2194560"/>
            <a:ext cx="2514600" cy="228600"/>
          </a:xfrm>
          <a:prstGeom prst="rect">
            <a:avLst/>
          </a:prstGeom>
          <a:solidFill>
            <a:srgbClr val="0A2A0A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6254496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renovar — Ene 2027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254496" y="2496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$697/año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7534656" y="253288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$697/año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74320" y="3200400"/>
            <a:ext cx="2697480" cy="1691640"/>
          </a:xfrm>
          <a:prstGeom prst="rect">
            <a:avLst/>
          </a:prstGeom>
          <a:solidFill>
            <a:srgbClr val="003F99"/>
          </a:solidFill>
          <a:ln w="254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3"/>
          <p:cNvSpPr/>
          <p:nvPr/>
        </p:nvSpPr>
        <p:spPr>
          <a:xfrm>
            <a:off x="274320" y="3200400"/>
            <a:ext cx="269748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365760" y="33101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841248" y="3310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ceducap.academy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365760" y="38221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365760" y="4069080"/>
            <a:ext cx="2514600" cy="228600"/>
          </a:xfrm>
          <a:prstGeom prst="rect">
            <a:avLst/>
          </a:prstGeom>
          <a:solidFill>
            <a:srgbClr val="4D0000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365760" y="40690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renovar — Oct 2026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365760" y="4370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$1,680/año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1645920" y="44074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$1,680/año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218688" y="3200400"/>
            <a:ext cx="2697480" cy="169164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42"/>
          <p:cNvSpPr/>
          <p:nvPr/>
        </p:nvSpPr>
        <p:spPr>
          <a:xfrm>
            <a:off x="3218688" y="3200400"/>
            <a:ext cx="2697480" cy="640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3"/>
          <p:cNvSpPr/>
          <p:nvPr/>
        </p:nvSpPr>
        <p:spPr>
          <a:xfrm>
            <a:off x="3310128" y="33101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48" name="Text 44"/>
          <p:cNvSpPr/>
          <p:nvPr/>
        </p:nvSpPr>
        <p:spPr>
          <a:xfrm>
            <a:off x="3785616" y="3310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IZZI Negocios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+ Telefonía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3310128" y="38221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IZZI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310128" y="4069080"/>
            <a:ext cx="2514600" cy="228600"/>
          </a:xfrm>
          <a:prstGeom prst="rect">
            <a:avLst/>
          </a:prstGeom>
          <a:solidFill>
            <a:srgbClr val="0A2A0A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7"/>
          <p:cNvSpPr/>
          <p:nvPr/>
        </p:nvSpPr>
        <p:spPr>
          <a:xfrm>
            <a:off x="3310128" y="40690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· Contrato 33147683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3310128" y="4370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$810/mes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4590288" y="44074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$9,720/año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Text 51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4922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CONTENIDOS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48640"/>
            <a:ext cx="868680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658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Producción de Contenidos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21792" y="11155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Proveedor: Creatinnmedia  ·  Lic. Rebeca Larios  ·  9988947691  ·  holabekoworks@gmail.com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0040" y="1481328"/>
            <a:ext cx="4023360" cy="283464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320040" y="1481328"/>
            <a:ext cx="40233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5029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Plan Básico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Institucional en Redes Sociales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2240280"/>
            <a:ext cx="9144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502920" y="235915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publicaciones mensuales (3/semana)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historias mensuales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con ChatGPT Premium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y diseño mensual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desempeño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886200"/>
            <a:ext cx="4023360" cy="429768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41148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$6,500/mes  ·  $78,000/año  ·  Precio + IVA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00600" y="1481328"/>
            <a:ext cx="4023360" cy="283464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4800600" y="1481328"/>
            <a:ext cx="402336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498348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🦉  Paquete Cursos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49834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Cursos Ceducap — Mensual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83480" y="2240280"/>
            <a:ext cx="9144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4983480" y="235915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cursos en temas distintos por mes (contenido gratuito en ceducap.academy)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guías para instructor (speech)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evaluaciones con hojas de respuesta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en PowerPoint y video explicativo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 listo en ceducap.academy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00600" y="3886200"/>
            <a:ext cx="4023360" cy="429768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489204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$7,500/mes  ·  $90,000/año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76656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FINANCIERO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48640"/>
            <a:ext cx="868680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Costos Operativos 2026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7680960" cy="332841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Iguala/Mes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Gestoría Cooperativa (Esc. 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Representación Legal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Contables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CFDI Adicional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cotizar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 Virtual Cancún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BanRegio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IMEC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ceducap.mx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ceducap.academy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IZZI Negocios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$9,720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— Plan 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de Cursos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F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6"/>
          <p:cNvSpPr/>
          <p:nvPr/>
        </p:nvSpPr>
        <p:spPr>
          <a:xfrm>
            <a:off x="411480" y="4617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MENSUAL FIJO  (Escenario A — gastos fijos mensualizados)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5943600" y="46177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$94,526.80 MXN/mes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74320" y="4892040"/>
            <a:ext cx="8595360" cy="32004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9"/>
          <p:cNvSpPr/>
          <p:nvPr/>
        </p:nvSpPr>
        <p:spPr>
          <a:xfrm>
            <a:off x="411480" y="4901184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OPERATIVO ANUAL  (Escenario A)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00800" y="4901184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$1,172,029 MXN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85800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21792" y="658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Pasivos Pendientes y Escenarios de Contrato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PASIVOS PENDIENTES DE PAGO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828800"/>
            <a:ext cx="4114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274320" y="1828800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438912" y="1883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Contables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× $6,000/mes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91840" y="1901952"/>
            <a:ext cx="1005840" cy="411480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3291840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4320" y="2542032"/>
            <a:ext cx="4114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274320" y="2542032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438912" y="25968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Virtual Cancún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38912" y="2862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× $950/mes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91840" y="2615184"/>
            <a:ext cx="1005840" cy="411480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3291840" y="26151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$2,850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4320" y="3255264"/>
            <a:ext cx="4114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274320" y="3255264"/>
            <a:ext cx="73152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438912" y="33101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IZZI Negocios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8912" y="35753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× $810/mes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91840" y="3328416"/>
            <a:ext cx="1005840" cy="411480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3291840" y="33284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$2,430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74320" y="4041648"/>
            <a:ext cx="4114800" cy="457200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411480" y="405993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 LIQUIDAR: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560320" y="40599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$23,280 MXN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709160" y="1325880"/>
            <a:ext cx="411480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0"/>
          <p:cNvSpPr/>
          <p:nvPr/>
        </p:nvSpPr>
        <p:spPr>
          <a:xfrm>
            <a:off x="470916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— GESTORÍA COOPERATIVA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09160" y="1828800"/>
            <a:ext cx="4114800" cy="10972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2"/>
          <p:cNvSpPr/>
          <p:nvPr/>
        </p:nvSpPr>
        <p:spPr>
          <a:xfrm>
            <a:off x="4709160" y="1828800"/>
            <a:ext cx="411480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3"/>
          <p:cNvSpPr/>
          <p:nvPr/>
        </p:nvSpPr>
        <p:spPr>
          <a:xfrm>
            <a:off x="484632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846320" y="22128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1 Año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58368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$55,000/mes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4846320" y="24505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Anual: $660,000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583680" y="24505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años: $1,980,000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09160" y="3063240"/>
            <a:ext cx="4114800" cy="109728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9"/>
          <p:cNvSpPr/>
          <p:nvPr/>
        </p:nvSpPr>
        <p:spPr>
          <a:xfrm>
            <a:off x="4709160" y="3063240"/>
            <a:ext cx="411480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0"/>
          <p:cNvSpPr/>
          <p:nvPr/>
        </p:nvSpPr>
        <p:spPr>
          <a:xfrm>
            <a:off x="484632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 ✓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846320" y="3447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3 Años — RECOMENDADO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83680" y="31363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$48,000/mes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4846320" y="36850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Anual: $576,000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583680" y="36850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años: $1,728,000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09160" y="3904488"/>
            <a:ext cx="4114800" cy="256032"/>
          </a:xfrm>
          <a:prstGeom prst="rect">
            <a:avLst/>
          </a:prstGeom>
          <a:solidFill>
            <a:srgbClr val="0D2E0D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6"/>
          <p:cNvSpPr/>
          <p:nvPr/>
        </p:nvSpPr>
        <p:spPr>
          <a:xfrm>
            <a:off x="4709160" y="39044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D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vs. Escenario A: $252,000 en 3 años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Text 48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9494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PAGOS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48640"/>
            <a:ext cx="868680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Operación de Pagos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21792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mensual Día 20 · BanRegio → CLABE STP → Tokanet → Tokapay a socios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28600" y="1417320"/>
            <a:ext cx="2011680" cy="141732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28600" y="141732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301752" y="148132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301752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04088" y="1490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Concentradora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004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socios + B2B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0040" y="2084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BanRegio Empresarial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 Educ. y Cap. S.C.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240280" y="17373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441448" y="1417320"/>
            <a:ext cx="2011680" cy="14173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2441448" y="141732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2514600" y="148132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2514600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916936" y="1490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STP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532888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20 de cada mes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532888" y="2084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CLABE: 646180205620003252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STP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453128" y="17373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654296" y="1417320"/>
            <a:ext cx="2011680" cy="1417320"/>
          </a:xfrm>
          <a:prstGeom prst="rect">
            <a:avLst/>
          </a:prstGeom>
          <a:solidFill>
            <a:srgbClr val="0D3B8E"/>
          </a:solidFill>
          <a:ln w="12700">
            <a:solidFill>
              <a:srgbClr val="0D3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4654296" y="141732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4"/>
          <p:cNvSpPr/>
          <p:nvPr/>
        </p:nvSpPr>
        <p:spPr>
          <a:xfrm>
            <a:off x="4727448" y="148132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4727448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129784" y="1490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Tokanet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745736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automática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745736" y="2084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Tokanet / Tokapay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SPEI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665976" y="17373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867144" y="1417320"/>
            <a:ext cx="2011680" cy="141732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1"/>
          <p:cNvSpPr/>
          <p:nvPr/>
        </p:nvSpPr>
        <p:spPr>
          <a:xfrm>
            <a:off x="6867144" y="141732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2"/>
          <p:cNvSpPr/>
          <p:nvPr/>
        </p:nvSpPr>
        <p:spPr>
          <a:xfrm>
            <a:off x="6940296" y="148132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/>
          <p:nvPr/>
        </p:nvSpPr>
        <p:spPr>
          <a:xfrm>
            <a:off x="6940296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342632" y="1490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Socios-Proveedores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958584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iguala mensual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958584" y="2084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· Ernesto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Gladis · Creatinnmedia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228600" y="2971800"/>
            <a:ext cx="8686800" cy="2926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320040" y="29809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VÍA TOKAPAY — Día 20 de cada mes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228600" y="3264408"/>
            <a:ext cx="2011680" cy="1298448"/>
          </a:xfrm>
          <a:prstGeom prst="rect">
            <a:avLst/>
          </a:prstGeom>
          <a:solidFill>
            <a:srgbClr val="003F99"/>
          </a:solidFill>
          <a:ln w="12700">
            <a:solidFill>
              <a:srgbClr val="1C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0"/>
          <p:cNvSpPr/>
          <p:nvPr/>
        </p:nvSpPr>
        <p:spPr>
          <a:xfrm>
            <a:off x="228600" y="3264408"/>
            <a:ext cx="20116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1"/>
          <p:cNvSpPr/>
          <p:nvPr/>
        </p:nvSpPr>
        <p:spPr>
          <a:xfrm>
            <a:off x="3200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Pérez Villaseñor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320040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Gestoría Cooperativa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57200" y="3913632"/>
            <a:ext cx="155448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4"/>
          <p:cNvSpPr/>
          <p:nvPr/>
        </p:nvSpPr>
        <p:spPr>
          <a:xfrm>
            <a:off x="457200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$55,000/mes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2441448" y="3264408"/>
            <a:ext cx="2011680" cy="1298448"/>
          </a:xfrm>
          <a:prstGeom prst="rect">
            <a:avLst/>
          </a:prstGeom>
          <a:solidFill>
            <a:srgbClr val="003F99"/>
          </a:solidFill>
          <a:ln w="12700">
            <a:solidFill>
              <a:srgbClr val="1C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0" name="Shape 46"/>
          <p:cNvSpPr/>
          <p:nvPr/>
        </p:nvSpPr>
        <p:spPr>
          <a:xfrm>
            <a:off x="2441448" y="3264408"/>
            <a:ext cx="20116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7"/>
          <p:cNvSpPr/>
          <p:nvPr/>
        </p:nvSpPr>
        <p:spPr>
          <a:xfrm>
            <a:off x="2532888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Ernesto Santa Ana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2532888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Legal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2670048" y="3913632"/>
            <a:ext cx="155448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0"/>
          <p:cNvSpPr/>
          <p:nvPr/>
        </p:nvSpPr>
        <p:spPr>
          <a:xfrm>
            <a:off x="2670048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$15,000/mes</a:t>
            </a:r>
            <a:endParaRPr lang="en-US" sz="1200" dirty="0"/>
          </a:p>
        </p:txBody>
      </p:sp>
      <p:sp>
        <p:nvSpPr>
          <p:cNvPr id="55" name="Shape 51"/>
          <p:cNvSpPr/>
          <p:nvPr/>
        </p:nvSpPr>
        <p:spPr>
          <a:xfrm>
            <a:off x="4654296" y="3264408"/>
            <a:ext cx="2011680" cy="1298448"/>
          </a:xfrm>
          <a:prstGeom prst="rect">
            <a:avLst/>
          </a:prstGeom>
          <a:solidFill>
            <a:srgbClr val="003F99"/>
          </a:solidFill>
          <a:ln w="12700">
            <a:solidFill>
              <a:srgbClr val="1C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6" name="Shape 52"/>
          <p:cNvSpPr/>
          <p:nvPr/>
        </p:nvSpPr>
        <p:spPr>
          <a:xfrm>
            <a:off x="4654296" y="3264408"/>
            <a:ext cx="20116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3"/>
          <p:cNvSpPr/>
          <p:nvPr/>
        </p:nvSpPr>
        <p:spPr>
          <a:xfrm>
            <a:off x="4745736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 Gladis Santos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4745736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+ CFDI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4882896" y="3913632"/>
            <a:ext cx="155448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6"/>
          <p:cNvSpPr/>
          <p:nvPr/>
        </p:nvSpPr>
        <p:spPr>
          <a:xfrm>
            <a:off x="4882896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$6,000/mes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6867144" y="3264408"/>
            <a:ext cx="2011680" cy="1298448"/>
          </a:xfrm>
          <a:prstGeom prst="rect">
            <a:avLst/>
          </a:prstGeom>
          <a:solidFill>
            <a:srgbClr val="003F99"/>
          </a:solidFill>
          <a:ln w="12700">
            <a:solidFill>
              <a:srgbClr val="1C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2" name="Shape 58"/>
          <p:cNvSpPr/>
          <p:nvPr/>
        </p:nvSpPr>
        <p:spPr>
          <a:xfrm>
            <a:off x="6867144" y="3264408"/>
            <a:ext cx="20116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59"/>
          <p:cNvSpPr/>
          <p:nvPr/>
        </p:nvSpPr>
        <p:spPr>
          <a:xfrm>
            <a:off x="6958584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Creatinnmedia</a:t>
            </a:r>
            <a:endParaRPr lang="en-US" sz="950" dirty="0"/>
          </a:p>
        </p:txBody>
      </p:sp>
      <p:sp>
        <p:nvSpPr>
          <p:cNvPr id="64" name="Text 60"/>
          <p:cNvSpPr/>
          <p:nvPr/>
        </p:nvSpPr>
        <p:spPr>
          <a:xfrm>
            <a:off x="6958584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Cursos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7095744" y="3913632"/>
            <a:ext cx="1554480" cy="34747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2"/>
          <p:cNvSpPr/>
          <p:nvPr/>
        </p:nvSpPr>
        <p:spPr>
          <a:xfrm>
            <a:off x="7095744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$14,000/mes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228600" y="4462272"/>
            <a:ext cx="8686800" cy="201168"/>
          </a:xfrm>
          <a:prstGeom prst="rect">
            <a:avLst/>
          </a:prstGeom>
          <a:solidFill>
            <a:srgbClr val="0D2A5E"/>
          </a:solidFill>
          <a:ln w="12700">
            <a:solidFill>
              <a:srgbClr val="1C77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64"/>
          <p:cNvSpPr/>
          <p:nvPr/>
        </p:nvSpPr>
        <p:spPr>
          <a:xfrm>
            <a:off x="320040" y="44622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TOKAPAY (socios):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$90,000/mes  </a:t>
            </a: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 directos: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$4,526.80/mes  </a:t>
            </a:r>
            <a:r>
              <a:rPr lang="en-US" sz="9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MENSUAL FIJO: $94,526.80 MXN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228600" y="4663440"/>
            <a:ext cx="8686800" cy="228600"/>
          </a:xfrm>
          <a:prstGeom prst="rect">
            <a:avLst/>
          </a:prstGeom>
          <a:solidFill>
            <a:srgbClr val="3D2800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6"/>
          <p:cNvSpPr/>
          <p:nvPr/>
        </p:nvSpPr>
        <p:spPr>
          <a:xfrm>
            <a:off x="320040" y="4672584"/>
            <a:ext cx="8503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externos (IZZI, Hostinger, IMEC, BanRegio) → Transferencia directa BanRegio, NO pasan por Tokapay  ·  Vercel + Supabase: GRATIS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394960" y="457200"/>
            <a:ext cx="36576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"/>
            <a:ext cx="2926080" cy="6949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1143000"/>
            <a:ext cx="4114800" cy="5029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411480" y="12801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¡La educación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hace libre!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41148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 está lista para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nivel.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11480" y="3520440"/>
            <a:ext cx="4572000" cy="118872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411480" y="3520440"/>
            <a:ext cx="457200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548640" y="36301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Pérez Villaseñor  —  Gestor Cooperativo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39319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ceducap.mx  ·  ceducap.academy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davidperez@ceducap.mx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Marzo 2026  ·  Documento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1159</Words>
  <Application>Microsoft Office PowerPoint</Application>
  <PresentationFormat>Presentación en pantalla (16:9)</PresentationFormat>
  <Paragraphs>298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Ceducap — Propuesta de Administración 2026</dc:title>
  <dc:subject>PptxGenJS Presentation</dc:subject>
  <dc:creator>PptxGenJS</dc:creator>
  <cp:lastModifiedBy>David Pérez Villaseñor</cp:lastModifiedBy>
  <cp:revision>1</cp:revision>
  <dcterms:created xsi:type="dcterms:W3CDTF">2026-03-19T23:16:07Z</dcterms:created>
  <dcterms:modified xsi:type="dcterms:W3CDTF">2026-03-19T23:54:38Z</dcterms:modified>
</cp:coreProperties>
</file>