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94" y="2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207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03F99"/>
          </a:solidFill>
          <a:ln w="12700">
            <a:solidFill>
              <a:srgbClr val="003F9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4754880" y="0"/>
            <a:ext cx="822960" cy="5143500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5120640" y="365760"/>
            <a:ext cx="3749040" cy="37490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47472"/>
            <a:ext cx="2926080" cy="69494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143000"/>
            <a:ext cx="4206240" cy="54864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4"/>
          <p:cNvSpPr/>
          <p:nvPr/>
        </p:nvSpPr>
        <p:spPr>
          <a:xfrm>
            <a:off x="411480" y="1261872"/>
            <a:ext cx="4389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de Inversión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411480" y="246888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ingresos · Punto de equilibrio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a 10,000 socios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11480" y="3218688"/>
            <a:ext cx="1325880" cy="594360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7"/>
          <p:cNvSpPr/>
          <p:nvPr/>
        </p:nvSpPr>
        <p:spPr>
          <a:xfrm>
            <a:off x="411480" y="3218688"/>
            <a:ext cx="1325880" cy="54864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8"/>
          <p:cNvSpPr/>
          <p:nvPr/>
        </p:nvSpPr>
        <p:spPr>
          <a:xfrm>
            <a:off x="411480" y="329184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411480" y="349300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$1,650,000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1856232" y="3218688"/>
            <a:ext cx="1325880" cy="594360"/>
          </a:xfrm>
          <a:prstGeom prst="rect">
            <a:avLst/>
          </a:prstGeom>
          <a:solidFill>
            <a:srgbClr val="003F99"/>
          </a:solidFill>
          <a:ln w="12700">
            <a:solidFill>
              <a:srgbClr val="003F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1"/>
          <p:cNvSpPr/>
          <p:nvPr/>
        </p:nvSpPr>
        <p:spPr>
          <a:xfrm>
            <a:off x="1856232" y="3218688"/>
            <a:ext cx="1325880" cy="54864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1856232" y="329184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856232" y="349300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/ socio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300984" y="3218688"/>
            <a:ext cx="132588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5"/>
          <p:cNvSpPr/>
          <p:nvPr/>
        </p:nvSpPr>
        <p:spPr>
          <a:xfrm>
            <a:off x="3300984" y="3218688"/>
            <a:ext cx="1325880" cy="54864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6"/>
          <p:cNvSpPr/>
          <p:nvPr/>
        </p:nvSpPr>
        <p:spPr>
          <a:xfrm>
            <a:off x="3300984" y="329184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3300984" y="349300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socios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11480" y="449884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al Consejo de Administración  ·  Marzo 2026  ·  Confidencial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2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F99"/>
          </a:solidFill>
          <a:ln w="12700">
            <a:solidFill>
              <a:srgbClr val="003F9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4008"/>
            <a:ext cx="1783080" cy="3931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20840" y="109728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6720840" y="1097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INVERSIÓN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57200" y="658368"/>
            <a:ext cx="54864" cy="502920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621792" y="621792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Inversión: $1,650,000 MXN</a:t>
            </a:r>
            <a:endParaRPr lang="en-US" sz="2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548640"/>
            <a:ext cx="749808" cy="74980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1298448"/>
            <a:ext cx="3931920" cy="2331720"/>
          </a:xfrm>
          <a:prstGeom prst="rect">
            <a:avLst/>
          </a:prstGeom>
          <a:solidFill>
            <a:srgbClr val="003F99"/>
          </a:solidFill>
          <a:ln w="12700">
            <a:solidFill>
              <a:srgbClr val="0A5D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6"/>
          <p:cNvSpPr/>
          <p:nvPr/>
        </p:nvSpPr>
        <p:spPr>
          <a:xfrm>
            <a:off x="320040" y="1298448"/>
            <a:ext cx="3931920" cy="73152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7"/>
          <p:cNvSpPr/>
          <p:nvPr/>
        </p:nvSpPr>
        <p:spPr>
          <a:xfrm>
            <a:off x="411480" y="14173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ADQUISICIÓN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11480" y="16916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$1,650,000</a:t>
            </a:r>
            <a:endParaRPr lang="en-US" sz="4200" dirty="0"/>
          </a:p>
        </p:txBody>
      </p:sp>
      <p:sp>
        <p:nvSpPr>
          <p:cNvPr id="13" name="Text 9"/>
          <p:cNvSpPr/>
          <p:nvPr/>
        </p:nvSpPr>
        <p:spPr>
          <a:xfrm>
            <a:off x="411480" y="2331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11480" y="26334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Ceducap Educación y Capacitación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S.C. de C. de RL de CV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26280" y="1298448"/>
            <a:ext cx="2148840" cy="1097280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2"/>
          <p:cNvSpPr/>
          <p:nvPr/>
        </p:nvSpPr>
        <p:spPr>
          <a:xfrm>
            <a:off x="4526280" y="1298448"/>
            <a:ext cx="2148840" cy="54864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3"/>
          <p:cNvSpPr/>
          <p:nvPr/>
        </p:nvSpPr>
        <p:spPr>
          <a:xfrm>
            <a:off x="4526280" y="137160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🏛️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983480" y="1389888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 Legal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617720" y="1773936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S.C. constituida, registrada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SAT y </a:t>
            </a:r>
            <a:r>
              <a:rPr lang="en-US" sz="850" i="1" dirty="0" err="1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</a:t>
            </a:r>
            <a:r>
              <a:rPr lang="en-US" sz="85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i="1" dirty="0" err="1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85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STPS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6858000" y="1298448"/>
            <a:ext cx="2148840" cy="1097280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7"/>
          <p:cNvSpPr/>
          <p:nvPr/>
        </p:nvSpPr>
        <p:spPr>
          <a:xfrm>
            <a:off x="6858000" y="1298448"/>
            <a:ext cx="2148840" cy="54864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8"/>
          <p:cNvSpPr/>
          <p:nvPr/>
        </p:nvSpPr>
        <p:spPr>
          <a:xfrm>
            <a:off x="6858000" y="137160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7315200" y="1389888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EdTech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949440" y="1773936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ceducap.mx + ceducap.academy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 DC-3 y NFT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4526280" y="2505456"/>
            <a:ext cx="2148840" cy="1097280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Shape 22"/>
          <p:cNvSpPr/>
          <p:nvPr/>
        </p:nvSpPr>
        <p:spPr>
          <a:xfrm>
            <a:off x="4526280" y="2505456"/>
            <a:ext cx="2148840" cy="54864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3"/>
          <p:cNvSpPr/>
          <p:nvPr/>
        </p:nvSpPr>
        <p:spPr>
          <a:xfrm>
            <a:off x="4526280" y="25786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4983480" y="2596896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Licencias y Registros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4617720" y="2980944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cursos ACE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IMEC (año 1 cubierto)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858000" y="2505456"/>
            <a:ext cx="2148840" cy="1097280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1" name="Shape 27"/>
          <p:cNvSpPr/>
          <p:nvPr/>
        </p:nvSpPr>
        <p:spPr>
          <a:xfrm>
            <a:off x="6858000" y="2505456"/>
            <a:ext cx="2148840" cy="54864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28"/>
          <p:cNvSpPr/>
          <p:nvPr/>
        </p:nvSpPr>
        <p:spPr>
          <a:xfrm>
            <a:off x="6858000" y="25786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33" name="Text 29"/>
          <p:cNvSpPr/>
          <p:nvPr/>
        </p:nvSpPr>
        <p:spPr>
          <a:xfrm>
            <a:off x="7315200" y="2596896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y Cartera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6949440" y="2980944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Identidad, dominios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y proveedores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22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6" name="Text 32"/>
          <p:cNvSpPr/>
          <p:nvPr/>
        </p:nvSpPr>
        <p:spPr>
          <a:xfrm>
            <a:off x="365760" y="491032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ceducap.mx  ·  ceducap.academy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224F"/>
          </a:solidFill>
          <a:ln w="12700">
            <a:solidFill>
              <a:srgbClr val="1122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4008"/>
            <a:ext cx="1783080" cy="3931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29400" y="109728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6629400" y="1097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457200" y="658368"/>
            <a:ext cx="54864" cy="502920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621792" y="658368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Genera Ingresos Ceducap</a:t>
            </a:r>
            <a:endParaRPr lang="en-US" sz="2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548640"/>
            <a:ext cx="777240" cy="777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4320" y="1371600"/>
            <a:ext cx="2011680" cy="2011680"/>
          </a:xfrm>
          <a:prstGeom prst="rect">
            <a:avLst/>
          </a:prstGeom>
          <a:solidFill>
            <a:srgbClr val="11224F"/>
          </a:solidFill>
          <a:ln w="12700">
            <a:solidFill>
              <a:srgbClr val="1122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7"/>
          <p:cNvSpPr/>
          <p:nvPr/>
        </p:nvSpPr>
        <p:spPr>
          <a:xfrm>
            <a:off x="274320" y="1371600"/>
            <a:ext cx="2011680" cy="64008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8"/>
          <p:cNvSpPr/>
          <p:nvPr/>
        </p:nvSpPr>
        <p:spPr>
          <a:xfrm>
            <a:off x="347472" y="1444752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9"/>
          <p:cNvSpPr/>
          <p:nvPr/>
        </p:nvSpPr>
        <p:spPr>
          <a:xfrm>
            <a:off x="347472" y="1444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77240" y="144475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365760" y="18470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Patrocinadora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65760" y="228600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como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 empresarial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Ceducap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286000" y="201168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2487168" y="1371600"/>
            <a:ext cx="2011680" cy="2011680"/>
          </a:xfrm>
          <a:prstGeom prst="rect">
            <a:avLst/>
          </a:prstGeom>
          <a:solidFill>
            <a:srgbClr val="003F99"/>
          </a:solidFill>
          <a:ln w="12700">
            <a:solidFill>
              <a:srgbClr val="003F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5"/>
          <p:cNvSpPr/>
          <p:nvPr/>
        </p:nvSpPr>
        <p:spPr>
          <a:xfrm>
            <a:off x="2487168" y="1371600"/>
            <a:ext cx="2011680" cy="64008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6"/>
          <p:cNvSpPr/>
          <p:nvPr/>
        </p:nvSpPr>
        <p:spPr>
          <a:xfrm>
            <a:off x="2560320" y="1444752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7"/>
          <p:cNvSpPr/>
          <p:nvPr/>
        </p:nvSpPr>
        <p:spPr>
          <a:xfrm>
            <a:off x="2560320" y="1444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2990088" y="144475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2578608" y="18470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2578608" y="228600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 $2,968/mes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trabajador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inscrito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498848" y="201168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4700016" y="1371600"/>
            <a:ext cx="2011680" cy="2011680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23"/>
          <p:cNvSpPr/>
          <p:nvPr/>
        </p:nvSpPr>
        <p:spPr>
          <a:xfrm>
            <a:off x="4700016" y="1371600"/>
            <a:ext cx="2011680" cy="64008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4"/>
          <p:cNvSpPr/>
          <p:nvPr/>
        </p:nvSpPr>
        <p:spPr>
          <a:xfrm>
            <a:off x="4773168" y="1444752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5"/>
          <p:cNvSpPr/>
          <p:nvPr/>
        </p:nvSpPr>
        <p:spPr>
          <a:xfrm>
            <a:off x="4773168" y="1444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202936" y="144475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31" name="Text 27"/>
          <p:cNvSpPr/>
          <p:nvPr/>
        </p:nvSpPr>
        <p:spPr>
          <a:xfrm>
            <a:off x="4791456" y="18470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 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Trabajador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4791456" y="228600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Equivalente a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salario mínimo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bruto mensual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6711696" y="201168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6912864" y="1371600"/>
            <a:ext cx="2011680" cy="2011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5" name="Shape 31"/>
          <p:cNvSpPr/>
          <p:nvPr/>
        </p:nvSpPr>
        <p:spPr>
          <a:xfrm>
            <a:off x="6912864" y="1371600"/>
            <a:ext cx="2011680" cy="64008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Shape 32"/>
          <p:cNvSpPr/>
          <p:nvPr/>
        </p:nvSpPr>
        <p:spPr>
          <a:xfrm>
            <a:off x="6986016" y="1444752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3"/>
          <p:cNvSpPr/>
          <p:nvPr/>
        </p:nvSpPr>
        <p:spPr>
          <a:xfrm>
            <a:off x="6986016" y="1444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7415784" y="144475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9" name="Text 35"/>
          <p:cNvSpPr/>
          <p:nvPr/>
        </p:nvSpPr>
        <p:spPr>
          <a:xfrm>
            <a:off x="7004304" y="18470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Ceducap 10%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7004304" y="228600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$296.80 por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trabajador/mes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 a Ceducap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274320" y="3520440"/>
            <a:ext cx="8595360" cy="502920"/>
          </a:xfrm>
          <a:prstGeom prst="rect">
            <a:avLst/>
          </a:prstGeom>
          <a:solidFill>
            <a:srgbClr val="11224F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38"/>
          <p:cNvSpPr/>
          <p:nvPr/>
        </p:nvSpPr>
        <p:spPr>
          <a:xfrm>
            <a:off x="457200" y="3538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FÓRMULA:  </a:t>
            </a:r>
            <a:r>
              <a:rPr lang="en-US" sz="11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Socios trabajadores  ×  $2,968/mes  ×  10%  =  </a:t>
            </a:r>
            <a:r>
              <a:rPr lang="en-US" sz="1100" b="1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mensual Ceducap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274320" y="4133088"/>
            <a:ext cx="859536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40"/>
          <p:cNvSpPr/>
          <p:nvPr/>
        </p:nvSpPr>
        <p:spPr>
          <a:xfrm>
            <a:off x="457200" y="415137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500 socios:  </a:t>
            </a:r>
            <a:r>
              <a:rPr lang="en-US" sz="10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× $2,968 × 10% = </a:t>
            </a:r>
            <a:r>
              <a:rPr lang="en-US" sz="10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$148,400/mes  </a:t>
            </a:r>
            <a:r>
              <a:rPr lang="en-US" sz="10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Costo operativo: $97,857/mes  </a:t>
            </a:r>
            <a:r>
              <a:rPr lang="en-US" sz="10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Excedente: $50,543/mes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D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6" name="Text 42"/>
          <p:cNvSpPr/>
          <p:nvPr/>
        </p:nvSpPr>
        <p:spPr>
          <a:xfrm>
            <a:off x="365760" y="491032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ceducap.mx  ·  ceducap.academy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2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F99"/>
          </a:solidFill>
          <a:ln w="12700">
            <a:solidFill>
              <a:srgbClr val="003F9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4008"/>
            <a:ext cx="1783080" cy="3931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29400" y="109728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6629400" y="1097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ECONÓMICA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57200" y="658368"/>
            <a:ext cx="54864" cy="502920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621792" y="621792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Célula Base: 1 Socio Trabajador</a:t>
            </a:r>
            <a:endParaRPr lang="en-US" sz="2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548640"/>
            <a:ext cx="749808" cy="74980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1298448"/>
            <a:ext cx="3200400" cy="2606040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6"/>
          <p:cNvSpPr/>
          <p:nvPr/>
        </p:nvSpPr>
        <p:spPr>
          <a:xfrm>
            <a:off x="320040" y="1298448"/>
            <a:ext cx="3200400" cy="73152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7"/>
          <p:cNvSpPr/>
          <p:nvPr/>
        </p:nvSpPr>
        <p:spPr>
          <a:xfrm>
            <a:off x="411480" y="14173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POR SOCIO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11480" y="171907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$296.80</a:t>
            </a:r>
            <a:endParaRPr lang="en-US" sz="4600" dirty="0"/>
          </a:p>
        </p:txBody>
      </p:sp>
      <p:sp>
        <p:nvSpPr>
          <p:cNvPr id="13" name="Text 9"/>
          <p:cNvSpPr/>
          <p:nvPr/>
        </p:nvSpPr>
        <p:spPr>
          <a:xfrm>
            <a:off x="411480" y="235915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 / mes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11480" y="26517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$2,968 × 10% comisión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11480" y="29077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$3,561.60 / año por socio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794760" y="1298448"/>
            <a:ext cx="1627632" cy="12070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3"/>
          <p:cNvSpPr/>
          <p:nvPr/>
        </p:nvSpPr>
        <p:spPr>
          <a:xfrm>
            <a:off x="3794760" y="1298448"/>
            <a:ext cx="1627632" cy="54864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3867912" y="138988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 para cubrir costos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3867912" y="175564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867912" y="213969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operativo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577840" y="1298448"/>
            <a:ext cx="1627632" cy="1207008"/>
          </a:xfrm>
          <a:prstGeom prst="rect">
            <a:avLst/>
          </a:prstGeom>
          <a:solidFill>
            <a:srgbClr val="003F99"/>
          </a:solidFill>
          <a:ln w="12700">
            <a:solidFill>
              <a:srgbClr val="003F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Shape 18"/>
          <p:cNvSpPr/>
          <p:nvPr/>
        </p:nvSpPr>
        <p:spPr>
          <a:xfrm>
            <a:off x="5577840" y="1298448"/>
            <a:ext cx="1627632" cy="54864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19"/>
          <p:cNvSpPr/>
          <p:nvPr/>
        </p:nvSpPr>
        <p:spPr>
          <a:xfrm>
            <a:off x="5650992" y="138988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a 500 socios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650992" y="175564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$148,400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5650992" y="213969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 bruto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7360920" y="1298448"/>
            <a:ext cx="1627632" cy="1207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23"/>
          <p:cNvSpPr/>
          <p:nvPr/>
        </p:nvSpPr>
        <p:spPr>
          <a:xfrm>
            <a:off x="7360920" y="1298448"/>
            <a:ext cx="1627632" cy="54864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4"/>
          <p:cNvSpPr/>
          <p:nvPr/>
        </p:nvSpPr>
        <p:spPr>
          <a:xfrm>
            <a:off x="7434072" y="138988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Excedente a 500 socios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7434072" y="175564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$50,543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7434072" y="213969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 neto</a:t>
            </a:r>
            <a:endParaRPr lang="en-US" sz="750" dirty="0"/>
          </a:p>
        </p:txBody>
      </p:sp>
      <p:sp>
        <p:nvSpPr>
          <p:cNvPr id="31" name="Shape 27"/>
          <p:cNvSpPr/>
          <p:nvPr/>
        </p:nvSpPr>
        <p:spPr>
          <a:xfrm>
            <a:off x="3794760" y="2624328"/>
            <a:ext cx="1627632" cy="1207008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2" name="Shape 28"/>
          <p:cNvSpPr/>
          <p:nvPr/>
        </p:nvSpPr>
        <p:spPr>
          <a:xfrm>
            <a:off x="3794760" y="2624328"/>
            <a:ext cx="1627632" cy="54864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29"/>
          <p:cNvSpPr/>
          <p:nvPr/>
        </p:nvSpPr>
        <p:spPr>
          <a:xfrm>
            <a:off x="3867912" y="271576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a 500 socios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3867912" y="308152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$1,780,800</a:t>
            </a:r>
            <a:endParaRPr lang="en-US" sz="1400" dirty="0"/>
          </a:p>
        </p:txBody>
      </p:sp>
      <p:sp>
        <p:nvSpPr>
          <p:cNvPr id="35" name="Text 31"/>
          <p:cNvSpPr/>
          <p:nvPr/>
        </p:nvSpPr>
        <p:spPr>
          <a:xfrm>
            <a:off x="3867912" y="346557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 bruto</a:t>
            </a:r>
            <a:endParaRPr lang="en-US" sz="750" dirty="0"/>
          </a:p>
        </p:txBody>
      </p:sp>
      <p:sp>
        <p:nvSpPr>
          <p:cNvPr id="36" name="Shape 32"/>
          <p:cNvSpPr/>
          <p:nvPr/>
        </p:nvSpPr>
        <p:spPr>
          <a:xfrm>
            <a:off x="5577840" y="2624328"/>
            <a:ext cx="1627632" cy="1207008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7" name="Shape 33"/>
          <p:cNvSpPr/>
          <p:nvPr/>
        </p:nvSpPr>
        <p:spPr>
          <a:xfrm>
            <a:off x="5577840" y="2624328"/>
            <a:ext cx="1627632" cy="54864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4"/>
          <p:cNvSpPr/>
          <p:nvPr/>
        </p:nvSpPr>
        <p:spPr>
          <a:xfrm>
            <a:off x="5650992" y="271576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Excedente a 500 socios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5650992" y="308152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$606,516</a:t>
            </a:r>
            <a:endParaRPr lang="en-US" sz="1400" dirty="0"/>
          </a:p>
        </p:txBody>
      </p:sp>
      <p:sp>
        <p:nvSpPr>
          <p:cNvPr id="40" name="Text 36"/>
          <p:cNvSpPr/>
          <p:nvPr/>
        </p:nvSpPr>
        <p:spPr>
          <a:xfrm>
            <a:off x="5650992" y="346557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 neto</a:t>
            </a:r>
            <a:endParaRPr lang="en-US" sz="750" dirty="0"/>
          </a:p>
        </p:txBody>
      </p:sp>
      <p:sp>
        <p:nvSpPr>
          <p:cNvPr id="41" name="Shape 37"/>
          <p:cNvSpPr/>
          <p:nvPr/>
        </p:nvSpPr>
        <p:spPr>
          <a:xfrm>
            <a:off x="7360920" y="2624328"/>
            <a:ext cx="1627632" cy="12070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2" name="Shape 38"/>
          <p:cNvSpPr/>
          <p:nvPr/>
        </p:nvSpPr>
        <p:spPr>
          <a:xfrm>
            <a:off x="7360920" y="2624328"/>
            <a:ext cx="1627632" cy="54864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39"/>
          <p:cNvSpPr/>
          <p:nvPr/>
        </p:nvSpPr>
        <p:spPr>
          <a:xfrm>
            <a:off x="7434072" y="271576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 inversión en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7434072" y="308152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 meses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7434072" y="346557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500 socios constantes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22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7" name="Text 43"/>
          <p:cNvSpPr/>
          <p:nvPr/>
        </p:nvSpPr>
        <p:spPr>
          <a:xfrm>
            <a:off x="365760" y="491032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ceducap.mx  ·  ceducap.academy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224F"/>
          </a:solidFill>
          <a:ln w="12700">
            <a:solidFill>
              <a:srgbClr val="1122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4008"/>
            <a:ext cx="1783080" cy="3931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3680" y="109728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6583680" y="1097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EQUILIBRIO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457200" y="658368"/>
            <a:ext cx="54864" cy="502920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621792" y="658368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Socios Necesita Ceducap?</a:t>
            </a:r>
            <a:endParaRPr lang="en-US" sz="2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548640"/>
            <a:ext cx="777240" cy="777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4320" y="1389888"/>
            <a:ext cx="2697480" cy="28346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7"/>
          <p:cNvSpPr/>
          <p:nvPr/>
        </p:nvSpPr>
        <p:spPr>
          <a:xfrm>
            <a:off x="274320" y="1389888"/>
            <a:ext cx="2697480" cy="73152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8"/>
          <p:cNvSpPr/>
          <p:nvPr/>
        </p:nvSpPr>
        <p:spPr>
          <a:xfrm>
            <a:off x="274320" y="148132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🔴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365760" y="199339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5760" y="23317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ROJA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65760" y="257860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329 socios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65760" y="2907792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en déficit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cooperativa no cubre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costos operativos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218688" y="1389888"/>
            <a:ext cx="2697480" cy="28346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4"/>
          <p:cNvSpPr/>
          <p:nvPr/>
        </p:nvSpPr>
        <p:spPr>
          <a:xfrm>
            <a:off x="3218688" y="1389888"/>
            <a:ext cx="2697480" cy="73152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5"/>
          <p:cNvSpPr/>
          <p:nvPr/>
        </p:nvSpPr>
        <p:spPr>
          <a:xfrm>
            <a:off x="3218688" y="148132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🟡</a:t>
            </a:r>
            <a:endParaRPr lang="en-US" sz="2800" dirty="0"/>
          </a:p>
        </p:txBody>
      </p:sp>
      <p:sp>
        <p:nvSpPr>
          <p:cNvPr id="20" name="Text 16"/>
          <p:cNvSpPr/>
          <p:nvPr/>
        </p:nvSpPr>
        <p:spPr>
          <a:xfrm>
            <a:off x="3310128" y="199339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EQUILIBRIO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310128" y="23317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ÁMBAR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310128" y="257860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socios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310128" y="2907792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exacto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$97,857 ingresos =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$97,857 costos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163056" y="1389888"/>
            <a:ext cx="2697480" cy="2834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Shape 21"/>
          <p:cNvSpPr/>
          <p:nvPr/>
        </p:nvSpPr>
        <p:spPr>
          <a:xfrm>
            <a:off x="6163056" y="1389888"/>
            <a:ext cx="2697480" cy="73152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2"/>
          <p:cNvSpPr/>
          <p:nvPr/>
        </p:nvSpPr>
        <p:spPr>
          <a:xfrm>
            <a:off x="6163056" y="148132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🟢</a:t>
            </a:r>
            <a:endParaRPr lang="en-US" sz="2800" dirty="0"/>
          </a:p>
        </p:txBody>
      </p:sp>
      <p:sp>
        <p:nvSpPr>
          <p:cNvPr id="27" name="Text 23"/>
          <p:cNvSpPr/>
          <p:nvPr/>
        </p:nvSpPr>
        <p:spPr>
          <a:xfrm>
            <a:off x="6254496" y="199339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6254496" y="23317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VERDE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254496" y="257860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331+ socios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6254496" y="2907792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socio adicional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$296.80/mes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utilidad neta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274320" y="4343400"/>
            <a:ext cx="8595360" cy="384048"/>
          </a:xfrm>
          <a:prstGeom prst="rect">
            <a:avLst/>
          </a:prstGeom>
          <a:solidFill>
            <a:srgbClr val="11224F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28"/>
          <p:cNvSpPr/>
          <p:nvPr/>
        </p:nvSpPr>
        <p:spPr>
          <a:xfrm>
            <a:off x="457200" y="43616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Break-even: </a:t>
            </a:r>
            <a:r>
              <a:rPr lang="en-US" sz="11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$97,857.48 costo mensual  ÷  $296.80 por socio  =  </a:t>
            </a:r>
            <a:r>
              <a:rPr lang="en-US" sz="11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socios exactos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D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Text 30"/>
          <p:cNvSpPr/>
          <p:nvPr/>
        </p:nvSpPr>
        <p:spPr>
          <a:xfrm>
            <a:off x="365760" y="491032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ceducap.mx  ·  ceducap.academy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F99"/>
          </a:solidFill>
          <a:ln w="12700">
            <a:solidFill>
              <a:srgbClr val="003F9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4008"/>
            <a:ext cx="1783080" cy="3931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20840" y="109728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6720840" y="1097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BASE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57200" y="658368"/>
            <a:ext cx="54864" cy="502920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621792" y="621792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Base: 500 Socios</a:t>
            </a:r>
            <a:endParaRPr lang="en-US" sz="2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548640"/>
            <a:ext cx="749808" cy="74980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1298448"/>
            <a:ext cx="4114800" cy="320040"/>
          </a:xfrm>
          <a:prstGeom prst="rect">
            <a:avLst/>
          </a:prstGeom>
          <a:solidFill>
            <a:srgbClr val="003F99"/>
          </a:solidFill>
          <a:ln w="12700">
            <a:solidFill>
              <a:srgbClr val="003F9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6"/>
          <p:cNvSpPr/>
          <p:nvPr/>
        </p:nvSpPr>
        <p:spPr>
          <a:xfrm>
            <a:off x="320040" y="12984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RESULTADOS MENSUAL — 500 SOCIOS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320040" y="1618488"/>
            <a:ext cx="4114800" cy="512064"/>
          </a:xfrm>
          <a:prstGeom prst="rect">
            <a:avLst/>
          </a:prstGeom>
          <a:solidFill>
            <a:srgbClr val="003F99"/>
          </a:solidFill>
          <a:ln w="6350">
            <a:solidFill>
              <a:srgbClr val="1C77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8"/>
          <p:cNvSpPr/>
          <p:nvPr/>
        </p:nvSpPr>
        <p:spPr>
          <a:xfrm>
            <a:off x="457200" y="1618488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mensual bruto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108960" y="1618488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$148,400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2185416"/>
            <a:ext cx="4114800" cy="512064"/>
          </a:xfrm>
          <a:prstGeom prst="rect">
            <a:avLst/>
          </a:prstGeom>
          <a:solidFill>
            <a:srgbClr val="003F99"/>
          </a:solidFill>
          <a:ln w="6350">
            <a:solidFill>
              <a:srgbClr val="1C77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1"/>
          <p:cNvSpPr/>
          <p:nvPr/>
        </p:nvSpPr>
        <p:spPr>
          <a:xfrm>
            <a:off x="457200" y="2185416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operativo mensual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108960" y="2185416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($97,857)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0040" y="2752344"/>
            <a:ext cx="4114800" cy="512064"/>
          </a:xfrm>
          <a:prstGeom prst="rect">
            <a:avLst/>
          </a:prstGeom>
          <a:solidFill>
            <a:srgbClr val="1A3A00"/>
          </a:solidFill>
          <a:ln w="6350">
            <a:solidFill>
              <a:srgbClr val="1C77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457200" y="2752344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EXCEDENTE MENSUAL NETO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108960" y="2752344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$50,543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320040" y="3319272"/>
            <a:ext cx="4114800" cy="512064"/>
          </a:xfrm>
          <a:prstGeom prst="rect">
            <a:avLst/>
          </a:prstGeom>
          <a:solidFill>
            <a:srgbClr val="0A2A5E"/>
          </a:solidFill>
          <a:ln w="6350">
            <a:solidFill>
              <a:srgbClr val="1C77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7"/>
          <p:cNvSpPr/>
          <p:nvPr/>
        </p:nvSpPr>
        <p:spPr>
          <a:xfrm>
            <a:off x="457200" y="3319272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Excedente anual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108960" y="3319272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9F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$606,516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320040" y="3886200"/>
            <a:ext cx="411480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20"/>
          <p:cNvSpPr/>
          <p:nvPr/>
        </p:nvSpPr>
        <p:spPr>
          <a:xfrm>
            <a:off x="320040" y="3886200"/>
            <a:ext cx="4114800" cy="64008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1"/>
          <p:cNvSpPr/>
          <p:nvPr/>
        </p:nvSpPr>
        <p:spPr>
          <a:xfrm>
            <a:off x="411480" y="39502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Recuperación de $1,650,000 MXN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11480" y="41879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$1,650,000 ÷ $50,543/mes = ~33 meses (2.7 años)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709160" y="1298448"/>
            <a:ext cx="4114800" cy="320040"/>
          </a:xfrm>
          <a:prstGeom prst="rect">
            <a:avLst/>
          </a:prstGeom>
          <a:solidFill>
            <a:srgbClr val="003F99"/>
          </a:solidFill>
          <a:ln w="12700">
            <a:solidFill>
              <a:srgbClr val="003F9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4"/>
          <p:cNvSpPr/>
          <p:nvPr/>
        </p:nvSpPr>
        <p:spPr>
          <a:xfrm>
            <a:off x="4709160" y="12984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ESCENARIOS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4709160" y="1618488"/>
            <a:ext cx="4114800" cy="530352"/>
          </a:xfrm>
          <a:prstGeom prst="rect">
            <a:avLst/>
          </a:prstGeom>
          <a:solidFill>
            <a:srgbClr val="003F99"/>
          </a:solidFill>
          <a:ln w="6350">
            <a:solidFill>
              <a:srgbClr val="003F9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6"/>
          <p:cNvSpPr/>
          <p:nvPr/>
        </p:nvSpPr>
        <p:spPr>
          <a:xfrm>
            <a:off x="4709160" y="1618488"/>
            <a:ext cx="54864" cy="5303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7"/>
          <p:cNvSpPr/>
          <p:nvPr/>
        </p:nvSpPr>
        <p:spPr>
          <a:xfrm>
            <a:off x="4800600" y="161848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330 socios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6400800" y="1618488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$87/mes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7680960" y="1618488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F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~1589.2 años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4709160" y="2212848"/>
            <a:ext cx="4114800" cy="530352"/>
          </a:xfrm>
          <a:prstGeom prst="rect">
            <a:avLst/>
          </a:prstGeom>
          <a:solidFill>
            <a:srgbClr val="0A5DD9"/>
          </a:solidFill>
          <a:ln w="254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31"/>
          <p:cNvSpPr/>
          <p:nvPr/>
        </p:nvSpPr>
        <p:spPr>
          <a:xfrm>
            <a:off x="4709160" y="2212848"/>
            <a:ext cx="54864" cy="530352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2"/>
          <p:cNvSpPr/>
          <p:nvPr/>
        </p:nvSpPr>
        <p:spPr>
          <a:xfrm>
            <a:off x="4800600" y="221284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500 socios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6400800" y="2212848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$50,543/mes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7680960" y="2212848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F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~2.7 años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4709160" y="2807208"/>
            <a:ext cx="4114800" cy="530352"/>
          </a:xfrm>
          <a:prstGeom prst="rect">
            <a:avLst/>
          </a:prstGeom>
          <a:solidFill>
            <a:srgbClr val="003F99"/>
          </a:solidFill>
          <a:ln w="6350">
            <a:solidFill>
              <a:srgbClr val="003F9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Shape 36"/>
          <p:cNvSpPr/>
          <p:nvPr/>
        </p:nvSpPr>
        <p:spPr>
          <a:xfrm>
            <a:off x="4709160" y="2807208"/>
            <a:ext cx="54864" cy="530352"/>
          </a:xfrm>
          <a:prstGeom prst="rect">
            <a:avLst/>
          </a:prstGeom>
          <a:solidFill>
            <a:srgbClr val="003F99"/>
          </a:solidFill>
          <a:ln w="12700">
            <a:solidFill>
              <a:srgbClr val="003F9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7"/>
          <p:cNvSpPr/>
          <p:nvPr/>
        </p:nvSpPr>
        <p:spPr>
          <a:xfrm>
            <a:off x="4800600" y="280720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2,000 socios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0" y="2807208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$495,743/mes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7680960" y="2807208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F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meses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4709160" y="3401568"/>
            <a:ext cx="4114800" cy="530352"/>
          </a:xfrm>
          <a:prstGeom prst="rect">
            <a:avLst/>
          </a:prstGeom>
          <a:solidFill>
            <a:srgbClr val="003F99"/>
          </a:solidFill>
          <a:ln w="6350">
            <a:solidFill>
              <a:srgbClr val="003F9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Shape 41"/>
          <p:cNvSpPr/>
          <p:nvPr/>
        </p:nvSpPr>
        <p:spPr>
          <a:xfrm>
            <a:off x="4709160" y="3401568"/>
            <a:ext cx="54864" cy="530352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2"/>
          <p:cNvSpPr/>
          <p:nvPr/>
        </p:nvSpPr>
        <p:spPr>
          <a:xfrm>
            <a:off x="4800600" y="340156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5,000 socios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6400800" y="3401568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$1,386,143/mes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7680960" y="3401568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F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mes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4709160" y="3995928"/>
            <a:ext cx="4114800" cy="530352"/>
          </a:xfrm>
          <a:prstGeom prst="rect">
            <a:avLst/>
          </a:prstGeom>
          <a:solidFill>
            <a:srgbClr val="003F99"/>
          </a:solidFill>
          <a:ln w="6350">
            <a:solidFill>
              <a:srgbClr val="003F9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Shape 46"/>
          <p:cNvSpPr/>
          <p:nvPr/>
        </p:nvSpPr>
        <p:spPr>
          <a:xfrm>
            <a:off x="4709160" y="3995928"/>
            <a:ext cx="54864" cy="530352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Text 47"/>
          <p:cNvSpPr/>
          <p:nvPr/>
        </p:nvSpPr>
        <p:spPr>
          <a:xfrm>
            <a:off x="4800600" y="399592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10,000 socios</a:t>
            </a:r>
            <a:endParaRPr lang="en-US" sz="1000" dirty="0"/>
          </a:p>
        </p:txBody>
      </p:sp>
      <p:sp>
        <p:nvSpPr>
          <p:cNvPr id="52" name="Text 48"/>
          <p:cNvSpPr/>
          <p:nvPr/>
        </p:nvSpPr>
        <p:spPr>
          <a:xfrm>
            <a:off x="6400800" y="3995928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$2,870,143/mes</a:t>
            </a:r>
            <a:endParaRPr lang="en-US" sz="1000" dirty="0"/>
          </a:p>
        </p:txBody>
      </p:sp>
      <p:sp>
        <p:nvSpPr>
          <p:cNvPr id="53" name="Text 49"/>
          <p:cNvSpPr/>
          <p:nvPr/>
        </p:nvSpPr>
        <p:spPr>
          <a:xfrm>
            <a:off x="7680960" y="3995928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F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mes</a:t>
            </a:r>
            <a:endParaRPr lang="en-US" sz="900" dirty="0"/>
          </a:p>
        </p:txBody>
      </p:sp>
      <p:sp>
        <p:nvSpPr>
          <p:cNvPr id="54" name="Shape 5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22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5" name="Text 51"/>
          <p:cNvSpPr/>
          <p:nvPr/>
        </p:nvSpPr>
        <p:spPr>
          <a:xfrm>
            <a:off x="365760" y="491032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ceducap.mx  ·  ceducap.academy</a:t>
            </a:r>
            <a:endParaRPr lang="en-US" sz="800" dirty="0"/>
          </a:p>
        </p:txBody>
      </p:sp>
      <p:sp>
        <p:nvSpPr>
          <p:cNvPr id="56" name="Text 52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224F"/>
          </a:solidFill>
          <a:ln w="12700">
            <a:solidFill>
              <a:srgbClr val="1122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4008"/>
            <a:ext cx="1783080" cy="3931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0" y="109728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6400800" y="1097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CRECIMIENTO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457200" y="658368"/>
            <a:ext cx="54864" cy="502920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621792" y="658368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vs. Costos por Escenario</a:t>
            </a:r>
            <a:endParaRPr lang="en-US" sz="2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548640"/>
            <a:ext cx="777240" cy="777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5760" y="4181409"/>
            <a:ext cx="8412480" cy="3657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8"/>
          <p:cNvSpPr/>
          <p:nvPr/>
        </p:nvSpPr>
        <p:spPr>
          <a:xfrm>
            <a:off x="739140" y="4199611"/>
            <a:ext cx="1234440" cy="98069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9"/>
          <p:cNvSpPr/>
          <p:nvPr/>
        </p:nvSpPr>
        <p:spPr>
          <a:xfrm>
            <a:off x="739140" y="4199611"/>
            <a:ext cx="1234440" cy="87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0"/>
          <p:cNvSpPr/>
          <p:nvPr/>
        </p:nvSpPr>
        <p:spPr>
          <a:xfrm>
            <a:off x="739140" y="3925291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$98K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39140" y="4343400"/>
            <a:ext cx="1740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</a:t>
            </a:r>
            <a:r>
              <a:rPr lang="en-US" sz="900" b="1" dirty="0" err="1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346960" y="4149090"/>
            <a:ext cx="1234440" cy="148590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3"/>
          <p:cNvSpPr/>
          <p:nvPr/>
        </p:nvSpPr>
        <p:spPr>
          <a:xfrm>
            <a:off x="2346960" y="4149090"/>
            <a:ext cx="1234440" cy="50607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2346960" y="387477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$148K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346960" y="43434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</a:t>
            </a:r>
            <a:r>
              <a:rPr lang="en-US" sz="900" b="1" dirty="0" err="1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954780" y="3703320"/>
            <a:ext cx="1234440" cy="594360"/>
          </a:xfrm>
          <a:prstGeom prst="rect">
            <a:avLst/>
          </a:prstGeom>
          <a:solidFill>
            <a:srgbClr val="003F99"/>
          </a:solidFill>
          <a:ln w="12700">
            <a:solidFill>
              <a:srgbClr val="003F9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7"/>
          <p:cNvSpPr/>
          <p:nvPr/>
        </p:nvSpPr>
        <p:spPr>
          <a:xfrm>
            <a:off x="3954780" y="3703320"/>
            <a:ext cx="1234440" cy="496377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8"/>
          <p:cNvSpPr/>
          <p:nvPr/>
        </p:nvSpPr>
        <p:spPr>
          <a:xfrm>
            <a:off x="3954780" y="342900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$594K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954780" y="43434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 </a:t>
            </a:r>
            <a:r>
              <a:rPr lang="en-US" sz="900" b="1" dirty="0" err="1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5562600" y="2811780"/>
            <a:ext cx="1234440" cy="1485900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1"/>
          <p:cNvSpPr/>
          <p:nvPr/>
        </p:nvSpPr>
        <p:spPr>
          <a:xfrm>
            <a:off x="5562600" y="2811780"/>
            <a:ext cx="1234440" cy="1387917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2"/>
          <p:cNvSpPr/>
          <p:nvPr/>
        </p:nvSpPr>
        <p:spPr>
          <a:xfrm>
            <a:off x="5562600" y="253746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5562600" y="43434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 </a:t>
            </a:r>
            <a:r>
              <a:rPr lang="en-US" sz="900" b="1" dirty="0" err="1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7170420" y="1325880"/>
            <a:ext cx="1234440" cy="297180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5"/>
          <p:cNvSpPr/>
          <p:nvPr/>
        </p:nvSpPr>
        <p:spPr>
          <a:xfrm>
            <a:off x="7170420" y="1325880"/>
            <a:ext cx="1234440" cy="2873817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6"/>
          <p:cNvSpPr/>
          <p:nvPr/>
        </p:nvSpPr>
        <p:spPr>
          <a:xfrm>
            <a:off x="7170420" y="105156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$3.0M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7170420" y="43434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</a:t>
            </a:r>
            <a:r>
              <a:rPr lang="en-US" sz="900" b="1" dirty="0" err="1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365760" y="4572000"/>
            <a:ext cx="256032" cy="164592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29"/>
          <p:cNvSpPr/>
          <p:nvPr/>
        </p:nvSpPr>
        <p:spPr>
          <a:xfrm>
            <a:off x="658368" y="45537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bruto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2560320" y="4572000"/>
            <a:ext cx="256032" cy="164592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1"/>
          <p:cNvSpPr/>
          <p:nvPr/>
        </p:nvSpPr>
        <p:spPr>
          <a:xfrm>
            <a:off x="2852928" y="45537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Excedente neto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4754880" y="4572000"/>
            <a:ext cx="256032" cy="3657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3"/>
          <p:cNvSpPr/>
          <p:nvPr/>
        </p:nvSpPr>
        <p:spPr>
          <a:xfrm>
            <a:off x="5047488" y="45537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operativo fijo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D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9" name="Text 35"/>
          <p:cNvSpPr/>
          <p:nvPr/>
        </p:nvSpPr>
        <p:spPr>
          <a:xfrm>
            <a:off x="365760" y="491032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ceducap.mx  ·  ceducap.academy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309360" y="3998529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Costo fijo: $97,857/mes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2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F99"/>
          </a:solidFill>
          <a:ln w="12700">
            <a:solidFill>
              <a:srgbClr val="003F9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4008"/>
            <a:ext cx="1783080" cy="3931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20840" y="109728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6720840" y="1097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ROI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57200" y="658368"/>
            <a:ext cx="54864" cy="502920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621792" y="621792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se Recuperan los $1,650,000?</a:t>
            </a:r>
            <a:endParaRPr lang="en-US" sz="2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548640"/>
            <a:ext cx="749808" cy="74980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74320" y="1298448"/>
            <a:ext cx="2011680" cy="3310128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6"/>
          <p:cNvSpPr/>
          <p:nvPr/>
        </p:nvSpPr>
        <p:spPr>
          <a:xfrm>
            <a:off x="274320" y="1298448"/>
            <a:ext cx="2011680" cy="64008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7"/>
          <p:cNvSpPr/>
          <p:nvPr/>
        </p:nvSpPr>
        <p:spPr>
          <a:xfrm>
            <a:off x="274320" y="138988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365760" y="181051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65760" y="2331720"/>
            <a:ext cx="1828800" cy="36576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0"/>
          <p:cNvSpPr/>
          <p:nvPr/>
        </p:nvSpPr>
        <p:spPr>
          <a:xfrm>
            <a:off x="365760" y="2423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mensual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65760" y="26334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$148,400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65760" y="2971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Excedente mensual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365760" y="31821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F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$50,543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20040" y="3547872"/>
            <a:ext cx="1920240" cy="713232"/>
          </a:xfrm>
          <a:prstGeom prst="rect">
            <a:avLst/>
          </a:prstGeom>
          <a:solidFill>
            <a:srgbClr val="11224F"/>
          </a:solidFill>
          <a:ln w="254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5"/>
          <p:cNvSpPr/>
          <p:nvPr/>
        </p:nvSpPr>
        <p:spPr>
          <a:xfrm>
            <a:off x="320040" y="359359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 en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20040" y="38130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~2.7 años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2487168" y="1298448"/>
            <a:ext cx="2011680" cy="3310128"/>
          </a:xfrm>
          <a:prstGeom prst="rect">
            <a:avLst/>
          </a:prstGeom>
          <a:solidFill>
            <a:srgbClr val="003F99"/>
          </a:solidFill>
          <a:ln w="12700">
            <a:solidFill>
              <a:srgbClr val="003F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Shape 18"/>
          <p:cNvSpPr/>
          <p:nvPr/>
        </p:nvSpPr>
        <p:spPr>
          <a:xfrm>
            <a:off x="2487168" y="1298448"/>
            <a:ext cx="2011680" cy="64008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19"/>
          <p:cNvSpPr/>
          <p:nvPr/>
        </p:nvSpPr>
        <p:spPr>
          <a:xfrm>
            <a:off x="2487168" y="138988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2578608" y="181051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2578608" y="2331720"/>
            <a:ext cx="1828800" cy="36576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2"/>
          <p:cNvSpPr/>
          <p:nvPr/>
        </p:nvSpPr>
        <p:spPr>
          <a:xfrm>
            <a:off x="2578608" y="2423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mensual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2578608" y="26334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$593,600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2578608" y="2971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Excedente mensual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2578608" y="31821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F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$495,743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2532888" y="3547872"/>
            <a:ext cx="1920240" cy="713232"/>
          </a:xfrm>
          <a:prstGeom prst="rect">
            <a:avLst/>
          </a:prstGeom>
          <a:solidFill>
            <a:srgbClr val="11224F"/>
          </a:solidFill>
          <a:ln w="254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7"/>
          <p:cNvSpPr/>
          <p:nvPr/>
        </p:nvSpPr>
        <p:spPr>
          <a:xfrm>
            <a:off x="2532888" y="359359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 en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2532888" y="38130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meses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4700016" y="1298448"/>
            <a:ext cx="2011680" cy="3310128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4" name="Shape 30"/>
          <p:cNvSpPr/>
          <p:nvPr/>
        </p:nvSpPr>
        <p:spPr>
          <a:xfrm>
            <a:off x="4700016" y="1298448"/>
            <a:ext cx="2011680" cy="64008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1"/>
          <p:cNvSpPr/>
          <p:nvPr/>
        </p:nvSpPr>
        <p:spPr>
          <a:xfrm>
            <a:off x="4700016" y="138988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🌟</a:t>
            </a:r>
            <a:endParaRPr lang="en-US" sz="2400" dirty="0"/>
          </a:p>
        </p:txBody>
      </p:sp>
      <p:sp>
        <p:nvSpPr>
          <p:cNvPr id="36" name="Text 32"/>
          <p:cNvSpPr/>
          <p:nvPr/>
        </p:nvSpPr>
        <p:spPr>
          <a:xfrm>
            <a:off x="4791456" y="181051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4791456" y="2331720"/>
            <a:ext cx="1828800" cy="36576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4"/>
          <p:cNvSpPr/>
          <p:nvPr/>
        </p:nvSpPr>
        <p:spPr>
          <a:xfrm>
            <a:off x="4791456" y="2423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mensual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4791456" y="26334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$1,484,000</a:t>
            </a:r>
            <a:endParaRPr lang="en-US" sz="1300" dirty="0"/>
          </a:p>
        </p:txBody>
      </p:sp>
      <p:sp>
        <p:nvSpPr>
          <p:cNvPr id="40" name="Text 36"/>
          <p:cNvSpPr/>
          <p:nvPr/>
        </p:nvSpPr>
        <p:spPr>
          <a:xfrm>
            <a:off x="4791456" y="2971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Excedente mensual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4791456" y="31821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F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$1,386,143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745736" y="3547872"/>
            <a:ext cx="1920240" cy="713232"/>
          </a:xfrm>
          <a:prstGeom prst="rect">
            <a:avLst/>
          </a:prstGeom>
          <a:solidFill>
            <a:srgbClr val="11224F"/>
          </a:solidFill>
          <a:ln w="254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39"/>
          <p:cNvSpPr/>
          <p:nvPr/>
        </p:nvSpPr>
        <p:spPr>
          <a:xfrm>
            <a:off x="4745736" y="359359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 en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4745736" y="38130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mes</a:t>
            </a:r>
            <a:endParaRPr lang="en-US" sz="1400" dirty="0"/>
          </a:p>
        </p:txBody>
      </p:sp>
      <p:sp>
        <p:nvSpPr>
          <p:cNvPr id="45" name="Shape 41"/>
          <p:cNvSpPr/>
          <p:nvPr/>
        </p:nvSpPr>
        <p:spPr>
          <a:xfrm>
            <a:off x="6912864" y="1298448"/>
            <a:ext cx="2011680" cy="3310128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6" name="Shape 42"/>
          <p:cNvSpPr/>
          <p:nvPr/>
        </p:nvSpPr>
        <p:spPr>
          <a:xfrm>
            <a:off x="6912864" y="1298448"/>
            <a:ext cx="2011680" cy="64008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3"/>
          <p:cNvSpPr/>
          <p:nvPr/>
        </p:nvSpPr>
        <p:spPr>
          <a:xfrm>
            <a:off x="6912864" y="138988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48" name="Text 44"/>
          <p:cNvSpPr/>
          <p:nvPr/>
        </p:nvSpPr>
        <p:spPr>
          <a:xfrm>
            <a:off x="7004304" y="181051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</a:t>
            </a:r>
            <a:endParaRPr lang="en-US" sz="1400" dirty="0"/>
          </a:p>
        </p:txBody>
      </p:sp>
      <p:sp>
        <p:nvSpPr>
          <p:cNvPr id="49" name="Shape 45"/>
          <p:cNvSpPr/>
          <p:nvPr/>
        </p:nvSpPr>
        <p:spPr>
          <a:xfrm>
            <a:off x="7004304" y="2331720"/>
            <a:ext cx="1828800" cy="36576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6"/>
          <p:cNvSpPr/>
          <p:nvPr/>
        </p:nvSpPr>
        <p:spPr>
          <a:xfrm>
            <a:off x="7004304" y="2423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mensual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7004304" y="26334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$2,968,000</a:t>
            </a:r>
            <a:endParaRPr lang="en-US" sz="1300" dirty="0"/>
          </a:p>
        </p:txBody>
      </p:sp>
      <p:sp>
        <p:nvSpPr>
          <p:cNvPr id="52" name="Text 48"/>
          <p:cNvSpPr/>
          <p:nvPr/>
        </p:nvSpPr>
        <p:spPr>
          <a:xfrm>
            <a:off x="7004304" y="2971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Excedente mensual</a:t>
            </a:r>
            <a:endParaRPr lang="en-US" sz="800" dirty="0"/>
          </a:p>
        </p:txBody>
      </p:sp>
      <p:sp>
        <p:nvSpPr>
          <p:cNvPr id="53" name="Text 49"/>
          <p:cNvSpPr/>
          <p:nvPr/>
        </p:nvSpPr>
        <p:spPr>
          <a:xfrm>
            <a:off x="7004304" y="31821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F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$2,870,143</a:t>
            </a:r>
            <a:endParaRPr lang="en-US" sz="1300" dirty="0"/>
          </a:p>
        </p:txBody>
      </p:sp>
      <p:sp>
        <p:nvSpPr>
          <p:cNvPr id="54" name="Shape 50"/>
          <p:cNvSpPr/>
          <p:nvPr/>
        </p:nvSpPr>
        <p:spPr>
          <a:xfrm>
            <a:off x="6958584" y="3547872"/>
            <a:ext cx="1920240" cy="713232"/>
          </a:xfrm>
          <a:prstGeom prst="rect">
            <a:avLst/>
          </a:prstGeom>
          <a:solidFill>
            <a:srgbClr val="11224F"/>
          </a:solidFill>
          <a:ln w="254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Text 51"/>
          <p:cNvSpPr/>
          <p:nvPr/>
        </p:nvSpPr>
        <p:spPr>
          <a:xfrm>
            <a:off x="6958584" y="359359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8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 en</a:t>
            </a:r>
            <a:endParaRPr lang="en-US" sz="800" dirty="0"/>
          </a:p>
        </p:txBody>
      </p:sp>
      <p:sp>
        <p:nvSpPr>
          <p:cNvPr id="56" name="Text 52"/>
          <p:cNvSpPr/>
          <p:nvPr/>
        </p:nvSpPr>
        <p:spPr>
          <a:xfrm>
            <a:off x="6958584" y="38130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mes</a:t>
            </a:r>
            <a:endParaRPr lang="en-US" sz="1400" dirty="0"/>
          </a:p>
        </p:txBody>
      </p:sp>
      <p:sp>
        <p:nvSpPr>
          <p:cNvPr id="57" name="Shape 53"/>
          <p:cNvSpPr/>
          <p:nvPr/>
        </p:nvSpPr>
        <p:spPr>
          <a:xfrm>
            <a:off x="274320" y="4645152"/>
            <a:ext cx="8595360" cy="256032"/>
          </a:xfrm>
          <a:prstGeom prst="rect">
            <a:avLst/>
          </a:prstGeom>
          <a:solidFill>
            <a:srgbClr val="1A1A2E"/>
          </a:solidFill>
          <a:ln w="635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Text 54"/>
          <p:cNvSpPr/>
          <p:nvPr/>
        </p:nvSpPr>
        <p:spPr>
          <a:xfrm>
            <a:off x="411480" y="465429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La recuperación asume socios constantes mes a mes. El crecimiento acelera el retorno exponencialmente.</a:t>
            </a:r>
            <a:endParaRPr lang="en-US" sz="800" dirty="0"/>
          </a:p>
        </p:txBody>
      </p:sp>
      <p:sp>
        <p:nvSpPr>
          <p:cNvPr id="59" name="Shape 5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224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0" name="Text 56"/>
          <p:cNvSpPr/>
          <p:nvPr/>
        </p:nvSpPr>
        <p:spPr>
          <a:xfrm>
            <a:off x="365760" y="491032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ceducap.mx  ·  ceducap.academy</a:t>
            </a:r>
            <a:endParaRPr lang="en-US" sz="800" dirty="0"/>
          </a:p>
        </p:txBody>
      </p:sp>
      <p:sp>
        <p:nvSpPr>
          <p:cNvPr id="61" name="Text 57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2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03F99"/>
          </a:solidFill>
          <a:ln w="12700">
            <a:solidFill>
              <a:srgbClr val="003F9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394960" y="0"/>
            <a:ext cx="822960" cy="5143500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5760720" y="457200"/>
            <a:ext cx="3291840" cy="32918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20040"/>
            <a:ext cx="2926080" cy="69494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115568"/>
            <a:ext cx="4754880" cy="54864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4"/>
          <p:cNvSpPr/>
          <p:nvPr/>
        </p:nvSpPr>
        <p:spPr>
          <a:xfrm>
            <a:off x="411480" y="12344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Primeros 90 días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320040" y="2304288"/>
            <a:ext cx="4892040" cy="713232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6"/>
          <p:cNvSpPr/>
          <p:nvPr/>
        </p:nvSpPr>
        <p:spPr>
          <a:xfrm>
            <a:off x="320040" y="2304288"/>
            <a:ext cx="64008" cy="713232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7"/>
          <p:cNvSpPr/>
          <p:nvPr/>
        </p:nvSpPr>
        <p:spPr>
          <a:xfrm>
            <a:off x="475488" y="2377440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8"/>
          <p:cNvSpPr/>
          <p:nvPr/>
        </p:nvSpPr>
        <p:spPr>
          <a:xfrm>
            <a:off x="475488" y="23774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1–30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508760" y="23591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75488" y="2688336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Liquidar pasivos · Formalizar contratos · Onboarding primeros 100 socios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20040" y="3108960"/>
            <a:ext cx="4892040" cy="713232"/>
          </a:xfrm>
          <a:prstGeom prst="rect">
            <a:avLst/>
          </a:prstGeom>
          <a:solidFill>
            <a:srgbClr val="0A5DD9"/>
          </a:solidFill>
          <a:ln w="12700">
            <a:solidFill>
              <a:srgbClr val="0A5D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2"/>
          <p:cNvSpPr/>
          <p:nvPr/>
        </p:nvSpPr>
        <p:spPr>
          <a:xfrm>
            <a:off x="320040" y="3108960"/>
            <a:ext cx="64008" cy="713232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3"/>
          <p:cNvSpPr/>
          <p:nvPr/>
        </p:nvSpPr>
        <p:spPr>
          <a:xfrm>
            <a:off x="475488" y="318211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475488" y="318211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31–60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508760" y="31638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75488" y="3493008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a 330 socios (break-even) · Activar canal B2B · Marketing empresas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20040" y="3913632"/>
            <a:ext cx="4892040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Shape 18"/>
          <p:cNvSpPr/>
          <p:nvPr/>
        </p:nvSpPr>
        <p:spPr>
          <a:xfrm>
            <a:off x="320040" y="3913632"/>
            <a:ext cx="64008" cy="713232"/>
          </a:xfrm>
          <a:prstGeom prst="rect">
            <a:avLst/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19"/>
          <p:cNvSpPr/>
          <p:nvPr/>
        </p:nvSpPr>
        <p:spPr>
          <a:xfrm>
            <a:off x="475488" y="3986784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FF8F05"/>
          </a:solidFill>
          <a:ln w="12700">
            <a:solidFill>
              <a:srgbClr val="FF8F0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0"/>
          <p:cNvSpPr/>
          <p:nvPr/>
        </p:nvSpPr>
        <p:spPr>
          <a:xfrm>
            <a:off x="475488" y="39867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61–90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1508760" y="39684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75488" y="4297680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500 socios · $50,543/mes excedente · Proyección anual confirmada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11480" y="461772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Pérez Villaseñor  —  Gestor Cooperativo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764</Words>
  <Application>Microsoft Office PowerPoint</Application>
  <PresentationFormat>Presentación en pantalla (16:9)</PresentationFormat>
  <Paragraphs>237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Ceducap — ROI 2026</dc:title>
  <dc:subject>PptxGenJS Presentation</dc:subject>
  <dc:creator>PptxGenJS</dc:creator>
  <cp:lastModifiedBy>David Pérez Villaseñor</cp:lastModifiedBy>
  <cp:revision>2</cp:revision>
  <dcterms:created xsi:type="dcterms:W3CDTF">2026-03-19T23:43:23Z</dcterms:created>
  <dcterms:modified xsi:type="dcterms:W3CDTF">2026-03-19T23:52:52Z</dcterms:modified>
</cp:coreProperties>
</file>